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" y="109728"/>
            <a:ext cx="7324344" cy="10451592"/>
          </a:xfrm>
          <a:prstGeom prst="roundRect">
            <a:avLst/>
          </a:prstGeom>
          <a:noFill/>
          <a:ln w="26670">
            <a:solidFill>
              <a:srgbClr val="42B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46888" y="237744"/>
            <a:ext cx="7068312" cy="10195560"/>
          </a:xfrm>
          <a:prstGeom prst="roundRect">
            <a:avLst/>
          </a:prstGeom>
          <a:noFill/>
          <a:ln w="13970">
            <a:solidFill>
              <a:srgbClr val="6FC3D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27648" y="320040"/>
            <a:ext cx="566928" cy="566928"/>
          </a:xfrm>
          <a:prstGeom prst="ellipse">
            <a:avLst/>
          </a:prstGeom>
          <a:solidFill>
            <a:srgbClr val="EB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02552" y="566928"/>
            <a:ext cx="310896" cy="310896"/>
          </a:xfrm>
          <a:prstGeom prst="ellipse">
            <a:avLst/>
          </a:prstGeom>
          <a:solidFill>
            <a:srgbClr val="DD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493776"/>
            <a:ext cx="82296" cy="82296"/>
          </a:xfrm>
          <a:prstGeom prst="ellipse">
            <a:avLst/>
          </a:prstGeom>
          <a:solidFill>
            <a:srgbClr val="197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6656" y="457200"/>
            <a:ext cx="59436" cy="59436"/>
          </a:xfrm>
          <a:prstGeom prst="ellipse">
            <a:avLst/>
          </a:prstGeom>
          <a:solidFill>
            <a:srgbClr val="42B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3816" y="566928"/>
            <a:ext cx="50292" cy="50292"/>
          </a:xfrm>
          <a:prstGeom prst="ellipse">
            <a:avLst/>
          </a:prstGeom>
          <a:solidFill>
            <a:srgbClr val="6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347472"/>
            <a:ext cx="1874519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2374E"/>
                </a:solidFill>
                <a:latin typeface="Microsoft YaHei"/>
              </a:rPr>
              <a:t>高一化学</a:t>
            </a:r>
            <a:r>
              <a:rPr sz="1050" b="1">
                <a:solidFill>
                  <a:srgbClr val="197EAE"/>
                </a:solidFill>
                <a:latin typeface="Microsoft YaHei"/>
              </a:rPr>
              <a:t>  ·  课堂笔记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640080"/>
            <a:ext cx="15087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526873"/>
                </a:solidFill>
                <a:latin typeface="Microsoft YaHei"/>
              </a:defRPr>
            </a:pPr>
            <a:r>
              <a:t>LESSON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0040"/>
            <a:ext cx="3794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74E"/>
                </a:solidFill>
                <a:latin typeface="Microsoft YaHei"/>
              </a:defRPr>
            </a:pPr>
            <a:r>
              <a:t>物质分类及转化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722376"/>
            <a:ext cx="2907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97EAE"/>
                </a:solidFill>
                <a:latin typeface="Microsoft YaHei"/>
              </a:defRPr>
            </a:pPr>
            <a:r>
              <a:t>物质分类 · 分散系与胶体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914400"/>
            <a:ext cx="612648" cy="292608"/>
          </a:xfrm>
          <a:prstGeom prst="roundRect">
            <a:avLst>
              <a:gd name="adj" fmla="val 20000"/>
            </a:avLst>
          </a:prstGeom>
          <a:solidFill>
            <a:srgbClr val="197EAE"/>
          </a:solidFill>
          <a:ln w="12700">
            <a:solidFill>
              <a:srgbClr val="197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914400"/>
            <a:ext cx="61264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1 /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0222992"/>
            <a:ext cx="3383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26873"/>
                </a:solidFill>
                <a:latin typeface="Microsoft YaHei"/>
              </a:defRPr>
            </a:pPr>
            <a:r>
              <a:t>依据教材第 1 讲整理｜知识结构 · 易错提醒 · 典型表达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10222992"/>
            <a:ext cx="135331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26873"/>
                </a:solidFill>
                <a:latin typeface="Microsoft YaHei"/>
              </a:defRPr>
            </a:pPr>
            <a:r>
              <a:t>FY27 · G1 B1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1234440"/>
            <a:ext cx="6684264" cy="3913632"/>
          </a:xfrm>
          <a:prstGeom prst="roundRect">
            <a:avLst/>
          </a:prstGeom>
          <a:solidFill>
            <a:srgbClr val="F5FCFE"/>
          </a:solidFill>
          <a:ln w="12700">
            <a:solidFill>
              <a:srgbClr val="BA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" y="1417320"/>
            <a:ext cx="384048" cy="310896"/>
          </a:xfrm>
          <a:prstGeom prst="roundRect">
            <a:avLst/>
          </a:prstGeom>
          <a:solidFill>
            <a:srgbClr val="197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412748"/>
            <a:ext cx="38404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1408176"/>
            <a:ext cx="58521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74E"/>
                </a:solidFill>
                <a:latin typeface="Microsoft YaHei"/>
              </a:defRPr>
            </a:pPr>
            <a:r>
              <a:t>物质的分类：先定标准，再逐级判断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9848" y="1746504"/>
            <a:ext cx="5852160" cy="0"/>
          </a:xfrm>
          <a:prstGeom prst="line">
            <a:avLst/>
          </a:prstGeom>
          <a:ln w="20320">
            <a:solidFill>
              <a:srgbClr val="197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1847088"/>
            <a:ext cx="281635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97EAE"/>
                </a:solidFill>
                <a:latin typeface="Microsoft YaHei"/>
              </a:defRPr>
            </a:pPr>
            <a:r>
              <a:t>树状分类法｜同一层级只用一个标准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72184" y="2121408"/>
            <a:ext cx="749808" cy="310896"/>
          </a:xfrm>
          <a:prstGeom prst="roundRect">
            <a:avLst/>
          </a:prstGeom>
          <a:solidFill>
            <a:srgbClr val="FFF9E4"/>
          </a:solidFill>
          <a:ln w="10160">
            <a:solidFill>
              <a:srgbClr val="DA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72184" y="2121408"/>
            <a:ext cx="74980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73941"/>
                </a:solidFill>
                <a:latin typeface="Microsoft YaHei"/>
              </a:defRPr>
            </a:pPr>
            <a:r>
              <a:t>物质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" y="2615184"/>
            <a:ext cx="896112" cy="310896"/>
          </a:xfrm>
          <a:prstGeom prst="roundRect">
            <a:avLst/>
          </a:prstGeom>
          <a:solidFill>
            <a:srgbClr val="EBF8FD"/>
          </a:solidFill>
          <a:ln w="10160">
            <a:solidFill>
              <a:srgbClr val="DA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2615184"/>
            <a:ext cx="89611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2374E"/>
                </a:solidFill>
                <a:latin typeface="Microsoft YaHei"/>
              </a:defRPr>
            </a:pPr>
            <a:r>
              <a:t>纯净物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84831" y="2615184"/>
            <a:ext cx="896112" cy="310896"/>
          </a:xfrm>
          <a:prstGeom prst="roundRect">
            <a:avLst/>
          </a:prstGeom>
          <a:solidFill>
            <a:srgbClr val="F6F4FF"/>
          </a:solidFill>
          <a:ln w="10160">
            <a:solidFill>
              <a:srgbClr val="DA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84831" y="2615184"/>
            <a:ext cx="89611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12374E"/>
                </a:solidFill>
                <a:latin typeface="Microsoft YaHei"/>
              </a:defRPr>
            </a:pPr>
            <a:r>
              <a:t>混合物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" y="3136392"/>
            <a:ext cx="74980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3136392"/>
            <a:ext cx="74980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97EAE"/>
                </a:solidFill>
                <a:latin typeface="Microsoft YaHei"/>
              </a:defRPr>
            </a:pPr>
            <a:r>
              <a:t>单质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36192" y="3136392"/>
            <a:ext cx="804672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36192" y="3136392"/>
            <a:ext cx="80467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97EAE"/>
                </a:solidFill>
                <a:latin typeface="Microsoft YaHei"/>
              </a:defRPr>
            </a:pPr>
            <a:r>
              <a:t>化合物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3136392"/>
            <a:ext cx="98755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26873"/>
                </a:solidFill>
                <a:latin typeface="Microsoft YaHei"/>
              </a:defRPr>
            </a:pPr>
            <a:r>
              <a:t>由多种物质组成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" y="3666744"/>
            <a:ext cx="713232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" y="3666744"/>
            <a:ext cx="71323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12374E"/>
                </a:solidFill>
                <a:latin typeface="Microsoft YaHei"/>
              </a:defRPr>
            </a:pPr>
            <a:r>
              <a:t>金属单质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52728" y="3666744"/>
            <a:ext cx="859536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52728" y="3666744"/>
            <a:ext cx="85953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12374E"/>
                </a:solidFill>
                <a:latin typeface="Microsoft YaHei"/>
              </a:defRPr>
            </a:pPr>
            <a:r>
              <a:t>非金属单质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12848" y="3666744"/>
            <a:ext cx="832104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12848" y="3666744"/>
            <a:ext cx="832104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60" b="1">
                <a:solidFill>
                  <a:srgbClr val="12374E"/>
                </a:solidFill>
                <a:latin typeface="Microsoft YaHei"/>
              </a:defRPr>
            </a:pPr>
            <a:r>
              <a:t>无机化合物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99816" y="3666744"/>
            <a:ext cx="65836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99816" y="3666744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12374E"/>
                </a:solidFill>
                <a:latin typeface="Microsoft YaHei"/>
              </a:defRPr>
            </a:pPr>
            <a:r>
              <a:t>有机物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847088" y="2432304"/>
            <a:ext cx="0" cy="91440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88720" y="2523744"/>
            <a:ext cx="1344168" cy="0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88720" y="2523744"/>
            <a:ext cx="0" cy="91440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532888" y="2523744"/>
            <a:ext cx="0" cy="91440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88720" y="2926080"/>
            <a:ext cx="0" cy="118872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05840" y="3044952"/>
            <a:ext cx="932688" cy="0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05840" y="3044952"/>
            <a:ext cx="0" cy="91440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938528" y="3044952"/>
            <a:ext cx="0" cy="91440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05840" y="3429000"/>
            <a:ext cx="0" cy="137160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22960" y="3566160"/>
            <a:ext cx="859536" cy="0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22960" y="3566160"/>
            <a:ext cx="0" cy="100584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682496" y="3566160"/>
            <a:ext cx="0" cy="100584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938528" y="3429000"/>
            <a:ext cx="0" cy="100584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38528" y="3529584"/>
            <a:ext cx="1490472" cy="0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633472" y="3529584"/>
            <a:ext cx="0" cy="137160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429000" y="3529584"/>
            <a:ext cx="0" cy="137160"/>
          </a:xfrm>
          <a:prstGeom prst="line">
            <a:avLst/>
          </a:prstGeom>
          <a:ln w="9525">
            <a:solidFill>
              <a:srgbClr val="7EB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30936" y="4050791"/>
            <a:ext cx="29992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10" b="1">
                <a:solidFill>
                  <a:srgbClr val="D73941"/>
                </a:solidFill>
                <a:latin typeface="Microsoft YaHei"/>
              </a:defRPr>
            </a:pPr>
            <a:r>
              <a:t>无机化合物常分为：氧化物、酸、碱、盐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1847088"/>
            <a:ext cx="27889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65CD6"/>
                </a:solidFill>
                <a:latin typeface="Microsoft YaHei"/>
              </a:defRPr>
            </a:pPr>
            <a:r>
              <a:t>交叉分类法｜同一物质可有多个标签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58768" y="2130552"/>
            <a:ext cx="2816352" cy="29260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19" b="1">
                <a:solidFill>
                  <a:srgbClr val="12374E"/>
                </a:solidFill>
                <a:latin typeface="Microsoft YaHei"/>
              </a:rPr>
              <a:t>Na₂CO₃：</a:t>
            </a:r>
            <a:r>
              <a:rPr sz="1019" b="1">
                <a:solidFill>
                  <a:srgbClr val="D73941"/>
                </a:solidFill>
                <a:latin typeface="Microsoft YaHei"/>
              </a:rPr>
              <a:t>钠盐 / 碳酸盐 / 正盐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58768" y="2432304"/>
            <a:ext cx="277977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526873"/>
                </a:solidFill>
                <a:latin typeface="Microsoft YaHei"/>
              </a:defRPr>
            </a:pPr>
            <a:r>
              <a:t>分类标准改变，所属类别也可能改变。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94760" y="2807208"/>
            <a:ext cx="28346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97EAE"/>
                </a:solidFill>
                <a:latin typeface="Microsoft YaHei"/>
              </a:defRPr>
            </a:pPr>
            <a:r>
              <a:t>一眼辨析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0" y="3099816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197EAE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05072" y="3099816"/>
            <a:ext cx="2624327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1F2A31"/>
                </a:solidFill>
                <a:latin typeface="Microsoft YaHei"/>
              </a:defRPr>
            </a:pPr>
            <a:r>
              <a:t>空气、溶液、胶体均为混合物。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0" y="3392424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197EAE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05072" y="3392424"/>
            <a:ext cx="2624327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1F2A31"/>
                </a:solidFill>
                <a:latin typeface="Microsoft YaHei"/>
              </a:defRPr>
            </a:pPr>
            <a:r>
              <a:t>单质只含一种元素；化合物含多种元素。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0" y="3685032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197EAE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05072" y="3685032"/>
            <a:ext cx="2624327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1F2A31"/>
                </a:solidFill>
                <a:latin typeface="Microsoft YaHei"/>
              </a:defRPr>
            </a:pPr>
            <a:r>
              <a:t>氧化物只含两种元素，其中一种是 O。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0" y="3977639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197EAE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05072" y="3977639"/>
            <a:ext cx="2624327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1F2A31"/>
                </a:solidFill>
                <a:latin typeface="Microsoft YaHei"/>
              </a:defRPr>
            </a:pPr>
            <a:r>
              <a:t>O₂ 是单质；NaHCO₃ 属于盐。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22191" y="4306824"/>
            <a:ext cx="2816352" cy="576072"/>
          </a:xfrm>
          <a:prstGeom prst="roundRect">
            <a:avLst/>
          </a:prstGeom>
          <a:solidFill>
            <a:srgbClr val="FFF4F5"/>
          </a:solidFill>
          <a:ln w="12700">
            <a:solidFill>
              <a:srgbClr val="F2B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50208" y="4379976"/>
            <a:ext cx="2542032" cy="18288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80" b="1">
                <a:solidFill>
                  <a:srgbClr val="D73941"/>
                </a:solidFill>
                <a:latin typeface="Microsoft YaHei"/>
              </a:rPr>
              <a:t>易错：</a:t>
            </a:r>
            <a:r>
              <a:rPr sz="880" b="0">
                <a:solidFill>
                  <a:srgbClr val="1F2A31"/>
                </a:solidFill>
                <a:latin typeface="Microsoft YaHei"/>
              </a:rPr>
              <a:t>金属氧化物不一定是碱性氧化物，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50208" y="4581144"/>
            <a:ext cx="2523744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1F2A31"/>
                </a:solidFill>
                <a:latin typeface="Microsoft YaHei"/>
              </a:defRPr>
            </a:pPr>
            <a:r>
              <a:t>非金属氧化物也不一定是酸性氧化物。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9768" y="5330952"/>
            <a:ext cx="6684264" cy="4645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12648" y="5513832"/>
            <a:ext cx="384048" cy="310896"/>
          </a:xfrm>
          <a:prstGeom prst="roundRect">
            <a:avLst/>
          </a:prstGeom>
          <a:solidFill>
            <a:srgbClr val="197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2648" y="5509260"/>
            <a:ext cx="38404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9848" y="5504688"/>
            <a:ext cx="58521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74E"/>
                </a:solidFill>
                <a:latin typeface="Microsoft YaHei"/>
              </a:defRPr>
            </a:pPr>
            <a:r>
              <a:t>分散系与胶体：本质看分散质粒子直径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069848" y="5843016"/>
            <a:ext cx="5852160" cy="0"/>
          </a:xfrm>
          <a:prstGeom prst="line">
            <a:avLst/>
          </a:prstGeom>
          <a:ln w="20320">
            <a:solidFill>
              <a:srgbClr val="197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640080" y="5971032"/>
          <a:ext cx="6281928" cy="1435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576"/>
                <a:gridCol w="1572768"/>
                <a:gridCol w="1700784"/>
                <a:gridCol w="1828800"/>
              </a:tblGrid>
              <a:tr h="28712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比较项目</a:t>
                      </a:r>
                    </a:p>
                  </a:txBody>
                  <a:tcPr marL="27432" marR="27432" marT="22860" marB="22860">
                    <a:solidFill>
                      <a:srgbClr val="197EA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溶液</a:t>
                      </a:r>
                    </a:p>
                  </a:txBody>
                  <a:tcPr marL="27432" marR="27432" marT="22860" marB="22860">
                    <a:solidFill>
                      <a:srgbClr val="178B8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胶体</a:t>
                      </a:r>
                    </a:p>
                  </a:txBody>
                  <a:tcPr marL="27432" marR="27432" marT="22860" marB="22860">
                    <a:solidFill>
                      <a:srgbClr val="178B8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浊液</a:t>
                      </a:r>
                    </a:p>
                  </a:txBody>
                  <a:tcPr marL="27432" marR="27432" marT="22860" marB="22860">
                    <a:solidFill>
                      <a:srgbClr val="178B8F"/>
                    </a:solidFill>
                  </a:tcPr>
                </a:tc>
              </a:tr>
              <a:tr h="28712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1">
                          <a:solidFill>
                            <a:srgbClr val="1F2A31"/>
                          </a:solidFill>
                          <a:latin typeface="Microsoft YaHei"/>
                        </a:defRPr>
                      </a:pPr>
                      <a:r>
                        <a:t>粒子直径</a:t>
                      </a:r>
                    </a:p>
                  </a:txBody>
                  <a:tcPr marL="27432" marR="27432" marT="22860" marB="22860">
                    <a:solidFill>
                      <a:srgbClr val="EBF8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0">
                          <a:solidFill>
                            <a:srgbClr val="D73941"/>
                          </a:solidFill>
                          <a:latin typeface="Microsoft YaHei"/>
                        </a:defRPr>
                      </a:pPr>
                      <a:r>
                        <a:t>＜1 nm</a:t>
                      </a:r>
                    </a:p>
                  </a:txBody>
                  <a:tcPr marL="27432" marR="2743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0">
                          <a:solidFill>
                            <a:srgbClr val="D73941"/>
                          </a:solidFill>
                          <a:latin typeface="Microsoft YaHei"/>
                        </a:defRPr>
                      </a:pPr>
                      <a:r>
                        <a:t>1～100 nm</a:t>
                      </a:r>
                    </a:p>
                  </a:txBody>
                  <a:tcPr marL="27432" marR="2743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0">
                          <a:solidFill>
                            <a:srgbClr val="D73941"/>
                          </a:solidFill>
                          <a:latin typeface="Microsoft YaHei"/>
                        </a:defRPr>
                      </a:pPr>
                      <a:r>
                        <a:t>＞100 nm</a:t>
                      </a:r>
                    </a:p>
                  </a:txBody>
                  <a:tcPr marL="27432" marR="27432" marT="22860" marB="22860">
                    <a:solidFill>
                      <a:srgbClr val="FFFFFF"/>
                    </a:solidFill>
                  </a:tcPr>
                </a:tc>
              </a:tr>
              <a:tr h="28712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1">
                          <a:solidFill>
                            <a:srgbClr val="1F2A31"/>
                          </a:solidFill>
                          <a:latin typeface="Microsoft YaHei"/>
                        </a:defRPr>
                      </a:pPr>
                      <a:r>
                        <a:t>外观 / 稳定性</a:t>
                      </a:r>
                    </a:p>
                  </a:txBody>
                  <a:tcPr marL="27432" marR="27432" marT="22860" marB="22860">
                    <a:solidFill>
                      <a:srgbClr val="EBF8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0">
                          <a:solidFill>
                            <a:srgbClr val="1F2A31"/>
                          </a:solidFill>
                          <a:latin typeface="Microsoft YaHei"/>
                        </a:defRPr>
                      </a:pPr>
                      <a:r>
                        <a:t>均一、稳定</a:t>
                      </a:r>
                    </a:p>
                  </a:txBody>
                  <a:tcPr marL="27432" marR="2743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0">
                          <a:solidFill>
                            <a:srgbClr val="1F2A31"/>
                          </a:solidFill>
                          <a:latin typeface="Microsoft YaHei"/>
                        </a:defRPr>
                      </a:pPr>
                      <a:r>
                        <a:t>较均一、介稳</a:t>
                      </a:r>
                    </a:p>
                  </a:txBody>
                  <a:tcPr marL="27432" marR="2743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0">
                          <a:solidFill>
                            <a:srgbClr val="1F2A31"/>
                          </a:solidFill>
                          <a:latin typeface="Microsoft YaHei"/>
                        </a:defRPr>
                      </a:pPr>
                      <a:r>
                        <a:t>不均一、不稳定</a:t>
                      </a:r>
                    </a:p>
                  </a:txBody>
                  <a:tcPr marL="27432" marR="27432" marT="22860" marB="22860">
                    <a:solidFill>
                      <a:srgbClr val="FFFFFF"/>
                    </a:solidFill>
                  </a:tcPr>
                </a:tc>
              </a:tr>
              <a:tr h="28712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1">
                          <a:solidFill>
                            <a:srgbClr val="1F2A31"/>
                          </a:solidFill>
                          <a:latin typeface="Microsoft YaHei"/>
                        </a:defRPr>
                      </a:pPr>
                      <a:r>
                        <a:t>通过滤纸</a:t>
                      </a:r>
                    </a:p>
                  </a:txBody>
                  <a:tcPr marL="27432" marR="27432" marT="22860" marB="22860">
                    <a:solidFill>
                      <a:srgbClr val="EBF8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0">
                          <a:solidFill>
                            <a:srgbClr val="1F2A31"/>
                          </a:solidFill>
                          <a:latin typeface="Microsoft YaHei"/>
                        </a:defRPr>
                      </a:pPr>
                      <a:r>
                        <a:t>能</a:t>
                      </a:r>
                    </a:p>
                  </a:txBody>
                  <a:tcPr marL="27432" marR="2743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0">
                          <a:solidFill>
                            <a:srgbClr val="1F2A31"/>
                          </a:solidFill>
                          <a:latin typeface="Microsoft YaHei"/>
                        </a:defRPr>
                      </a:pPr>
                      <a:r>
                        <a:t>能</a:t>
                      </a:r>
                    </a:p>
                  </a:txBody>
                  <a:tcPr marL="27432" marR="2743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0">
                          <a:solidFill>
                            <a:srgbClr val="1F2A31"/>
                          </a:solidFill>
                          <a:latin typeface="Microsoft YaHei"/>
                        </a:defRPr>
                      </a:pPr>
                      <a:r>
                        <a:t>不能</a:t>
                      </a:r>
                    </a:p>
                  </a:txBody>
                  <a:tcPr marL="27432" marR="27432" marT="22860" marB="22860">
                    <a:solidFill>
                      <a:srgbClr val="FFFFFF"/>
                    </a:solidFill>
                  </a:tcPr>
                </a:tc>
              </a:tr>
              <a:tr h="28712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1">
                          <a:solidFill>
                            <a:srgbClr val="1F2A31"/>
                          </a:solidFill>
                          <a:latin typeface="Microsoft YaHei"/>
                        </a:defRPr>
                      </a:pPr>
                      <a:r>
                        <a:t>通过半透膜</a:t>
                      </a:r>
                    </a:p>
                  </a:txBody>
                  <a:tcPr marL="27432" marR="27432" marT="22860" marB="22860">
                    <a:solidFill>
                      <a:srgbClr val="EBF8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0">
                          <a:solidFill>
                            <a:srgbClr val="1F2A31"/>
                          </a:solidFill>
                          <a:latin typeface="Microsoft YaHei"/>
                        </a:defRPr>
                      </a:pPr>
                      <a:r>
                        <a:t>能</a:t>
                      </a:r>
                    </a:p>
                  </a:txBody>
                  <a:tcPr marL="27432" marR="2743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0">
                          <a:solidFill>
                            <a:srgbClr val="1F2A31"/>
                          </a:solidFill>
                          <a:latin typeface="Microsoft YaHei"/>
                        </a:defRPr>
                      </a:pPr>
                      <a:r>
                        <a:t>不能</a:t>
                      </a:r>
                    </a:p>
                  </a:txBody>
                  <a:tcPr marL="27432" marR="2743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40" b="0">
                          <a:solidFill>
                            <a:srgbClr val="1F2A31"/>
                          </a:solidFill>
                          <a:latin typeface="Microsoft YaHei"/>
                        </a:defRPr>
                      </a:pPr>
                      <a:r>
                        <a:t>不能</a:t>
                      </a:r>
                    </a:p>
                  </a:txBody>
                  <a:tcPr marL="27432" marR="27432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0" name="Rounded Rectangle 79"/>
          <p:cNvSpPr/>
          <p:nvPr/>
        </p:nvSpPr>
        <p:spPr>
          <a:xfrm>
            <a:off x="658368" y="7580375"/>
            <a:ext cx="1490472" cy="932688"/>
          </a:xfrm>
          <a:prstGeom prst="roundRect">
            <a:avLst/>
          </a:prstGeom>
          <a:solidFill>
            <a:srgbClr val="EBF8FD"/>
          </a:solidFill>
          <a:ln w="11430">
            <a:solidFill>
              <a:srgbClr val="197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1519" y="7653527"/>
            <a:ext cx="1344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30" b="1">
                <a:solidFill>
                  <a:srgbClr val="197EAE"/>
                </a:solidFill>
                <a:latin typeface="Microsoft YaHei"/>
              </a:defRPr>
            </a:pPr>
            <a:r>
              <a:t>丁达尔效应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9808" y="7909559"/>
            <a:ext cx="13075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1F2A31"/>
                </a:solidFill>
                <a:latin typeface="Microsoft YaHei"/>
              </a:defRPr>
            </a:pPr>
            <a:r>
              <a:t>光束通过胶体形成明亮光路；可鉴别胶体与溶液。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258568" y="7580375"/>
            <a:ext cx="1490472" cy="932688"/>
          </a:xfrm>
          <a:prstGeom prst="roundRect">
            <a:avLst/>
          </a:prstGeom>
          <a:solidFill>
            <a:srgbClr val="F6F4FF"/>
          </a:solidFill>
          <a:ln w="11430">
            <a:solidFill>
              <a:srgbClr val="66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331720" y="7653527"/>
            <a:ext cx="1344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30" b="1">
                <a:solidFill>
                  <a:srgbClr val="665CD6"/>
                </a:solidFill>
                <a:latin typeface="Microsoft YaHei"/>
              </a:defRPr>
            </a:pPr>
            <a:r>
              <a:t>渗析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50008" y="7909559"/>
            <a:ext cx="13075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1F2A31"/>
                </a:solidFill>
                <a:latin typeface="Microsoft YaHei"/>
              </a:defRPr>
            </a:pPr>
            <a:r>
              <a:t>半透膜截留胶体粒子，小离子、分子可透过。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58768" y="7580375"/>
            <a:ext cx="1490472" cy="932688"/>
          </a:xfrm>
          <a:prstGeom prst="roundRect">
            <a:avLst/>
          </a:prstGeom>
          <a:solidFill>
            <a:srgbClr val="F5FCFE"/>
          </a:solidFill>
          <a:ln w="11430">
            <a:solidFill>
              <a:srgbClr val="178B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931920" y="7653527"/>
            <a:ext cx="1344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30" b="1">
                <a:solidFill>
                  <a:srgbClr val="178B8F"/>
                </a:solidFill>
                <a:latin typeface="Microsoft YaHei"/>
              </a:defRPr>
            </a:pPr>
            <a:r>
              <a:t>电泳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50207" y="7909559"/>
            <a:ext cx="13075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1F2A31"/>
                </a:solidFill>
                <a:latin typeface="Microsoft YaHei"/>
              </a:defRPr>
            </a:pPr>
            <a:r>
              <a:t>带电胶体粒子在电场中发生定向移动。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58968" y="7580375"/>
            <a:ext cx="1435608" cy="932688"/>
          </a:xfrm>
          <a:prstGeom prst="roundRect">
            <a:avLst/>
          </a:prstGeom>
          <a:solidFill>
            <a:srgbClr val="FFF9E4"/>
          </a:solidFill>
          <a:ln w="11430">
            <a:solidFill>
              <a:srgbClr val="EE8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32120" y="7653527"/>
            <a:ext cx="12893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30" b="1">
                <a:solidFill>
                  <a:srgbClr val="EE8B31"/>
                </a:solidFill>
                <a:latin typeface="Microsoft YaHei"/>
              </a:defRPr>
            </a:pPr>
            <a:r>
              <a:t>聚沉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50407" y="7909559"/>
            <a:ext cx="125272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1F2A31"/>
                </a:solidFill>
                <a:latin typeface="Microsoft YaHei"/>
              </a:defRPr>
            </a:pPr>
            <a:r>
              <a:t>加电解质、加热或搅拌可使胶体聚沉。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58368" y="8659368"/>
            <a:ext cx="6236208" cy="1060704"/>
          </a:xfrm>
          <a:prstGeom prst="roundRect">
            <a:avLst/>
          </a:prstGeom>
          <a:solidFill>
            <a:srgbClr val="FFF4F5"/>
          </a:solidFill>
          <a:ln w="12700">
            <a:solidFill>
              <a:srgbClr val="F2B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4672" y="8750808"/>
            <a:ext cx="11247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73941"/>
                </a:solidFill>
                <a:latin typeface="Microsoft YaHei"/>
              </a:defRPr>
            </a:pPr>
            <a:r>
              <a:t>Fe(OH)₃ 胶体制备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83664" y="8750808"/>
            <a:ext cx="480974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1F2A31"/>
                </a:solidFill>
                <a:latin typeface="Microsoft YaHei"/>
              </a:defRPr>
            </a:pPr>
            <a:r>
              <a:t>向沸水中逐滴加入饱和 FeCl₃ 溶液，继续煮沸至液体呈红褐色。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3816" y="9061704"/>
            <a:ext cx="5779008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030" b="1">
                <a:solidFill>
                  <a:srgbClr val="12374E"/>
                </a:solidFill>
                <a:latin typeface="Microsoft YaHei"/>
              </a:rPr>
              <a:t>FeCl₃ + 3H₂O</a:t>
            </a:r>
            <a:r>
              <a:rPr sz="1030" b="1">
                <a:solidFill>
                  <a:srgbClr val="197EAE"/>
                </a:solidFill>
                <a:latin typeface="Microsoft YaHei"/>
              </a:rPr>
              <a:t>  ──煮沸──→  </a:t>
            </a:r>
            <a:r>
              <a:rPr sz="1030" b="1">
                <a:solidFill>
                  <a:srgbClr val="D73941"/>
                </a:solidFill>
                <a:latin typeface="Microsoft YaHei"/>
              </a:rPr>
              <a:t>Fe(OH)₃（胶体） + 3HCl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960" y="9390888"/>
            <a:ext cx="5760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D73941"/>
                </a:solidFill>
                <a:latin typeface="Microsoft YaHei"/>
              </a:defRPr>
            </a:pPr>
            <a:r>
              <a:t>注意：胶体不是沉淀，方程式中 Fe(OH)₃ 后不写“↓”。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" y="109728"/>
            <a:ext cx="7324344" cy="10451592"/>
          </a:xfrm>
          <a:prstGeom prst="roundRect">
            <a:avLst/>
          </a:prstGeom>
          <a:noFill/>
          <a:ln w="26670">
            <a:solidFill>
              <a:srgbClr val="42B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46888" y="237744"/>
            <a:ext cx="7068312" cy="10195560"/>
          </a:xfrm>
          <a:prstGeom prst="roundRect">
            <a:avLst/>
          </a:prstGeom>
          <a:noFill/>
          <a:ln w="13970">
            <a:solidFill>
              <a:srgbClr val="6FC3D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27648" y="320040"/>
            <a:ext cx="566928" cy="566928"/>
          </a:xfrm>
          <a:prstGeom prst="ellipse">
            <a:avLst/>
          </a:prstGeom>
          <a:solidFill>
            <a:srgbClr val="EB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02552" y="566928"/>
            <a:ext cx="310896" cy="310896"/>
          </a:xfrm>
          <a:prstGeom prst="ellipse">
            <a:avLst/>
          </a:prstGeom>
          <a:solidFill>
            <a:srgbClr val="DD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493776"/>
            <a:ext cx="82296" cy="82296"/>
          </a:xfrm>
          <a:prstGeom prst="ellipse">
            <a:avLst/>
          </a:prstGeom>
          <a:solidFill>
            <a:srgbClr val="197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6656" y="457200"/>
            <a:ext cx="59436" cy="59436"/>
          </a:xfrm>
          <a:prstGeom prst="ellipse">
            <a:avLst/>
          </a:prstGeom>
          <a:solidFill>
            <a:srgbClr val="42B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3816" y="566928"/>
            <a:ext cx="50292" cy="50292"/>
          </a:xfrm>
          <a:prstGeom prst="ellipse">
            <a:avLst/>
          </a:prstGeom>
          <a:solidFill>
            <a:srgbClr val="6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347472"/>
            <a:ext cx="1874519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2374E"/>
                </a:solidFill>
                <a:latin typeface="Microsoft YaHei"/>
              </a:rPr>
              <a:t>高一化学</a:t>
            </a:r>
            <a:r>
              <a:rPr sz="1050" b="1">
                <a:solidFill>
                  <a:srgbClr val="197EAE"/>
                </a:solidFill>
                <a:latin typeface="Microsoft YaHei"/>
              </a:rPr>
              <a:t>  ·  课堂笔记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640080"/>
            <a:ext cx="15087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526873"/>
                </a:solidFill>
                <a:latin typeface="Microsoft YaHei"/>
              </a:defRPr>
            </a:pPr>
            <a:r>
              <a:t>LESSON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0040"/>
            <a:ext cx="3794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74E"/>
                </a:solidFill>
                <a:latin typeface="Microsoft YaHei"/>
              </a:defRPr>
            </a:pPr>
            <a:r>
              <a:t>物质分类及转化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722376"/>
            <a:ext cx="2907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97EAE"/>
                </a:solidFill>
                <a:latin typeface="Microsoft YaHei"/>
              </a:defRPr>
            </a:pPr>
            <a:r>
              <a:t>物质通性 · 反应类型 · 转化路线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914400"/>
            <a:ext cx="612648" cy="292608"/>
          </a:xfrm>
          <a:prstGeom prst="roundRect">
            <a:avLst>
              <a:gd name="adj" fmla="val 20000"/>
            </a:avLst>
          </a:prstGeom>
          <a:solidFill>
            <a:srgbClr val="197EAE"/>
          </a:solidFill>
          <a:ln w="12700">
            <a:solidFill>
              <a:srgbClr val="197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914400"/>
            <a:ext cx="61264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2 /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0222992"/>
            <a:ext cx="3383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26873"/>
                </a:solidFill>
                <a:latin typeface="Microsoft YaHei"/>
              </a:defRPr>
            </a:pPr>
            <a:r>
              <a:t>依据教材第 1 讲整理｜知识结构 · 易错提醒 · 典型表达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10222992"/>
            <a:ext cx="135331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26873"/>
                </a:solidFill>
                <a:latin typeface="Microsoft YaHei"/>
              </a:defRPr>
            </a:pPr>
            <a:r>
              <a:t>FY27 · G1 B1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1234440"/>
            <a:ext cx="6684264" cy="3090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" y="1417320"/>
            <a:ext cx="384048" cy="310896"/>
          </a:xfrm>
          <a:prstGeom prst="roundRect">
            <a:avLst/>
          </a:prstGeom>
          <a:solidFill>
            <a:srgbClr val="197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412748"/>
            <a:ext cx="38404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1408176"/>
            <a:ext cx="58521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74E"/>
                </a:solidFill>
                <a:latin typeface="Microsoft YaHei"/>
              </a:defRPr>
            </a:pPr>
            <a:r>
              <a:t>酸、碱、盐和氧化物：抓住典型反应对象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9848" y="1746504"/>
            <a:ext cx="5852160" cy="0"/>
          </a:xfrm>
          <a:prstGeom prst="line">
            <a:avLst/>
          </a:prstGeom>
          <a:ln w="20320">
            <a:solidFill>
              <a:srgbClr val="197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" y="1901952"/>
            <a:ext cx="1481328" cy="2148840"/>
          </a:xfrm>
          <a:prstGeom prst="roundRect">
            <a:avLst/>
          </a:prstGeom>
          <a:solidFill>
            <a:srgbClr val="FFF4F5"/>
          </a:solidFill>
          <a:ln w="11430">
            <a:solidFill>
              <a:srgbClr val="D739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1" y="1993392"/>
            <a:ext cx="13350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73941"/>
                </a:solidFill>
                <a:latin typeface="Microsoft YaHei"/>
              </a:defRPr>
            </a:pPr>
            <a:r>
              <a:t>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" y="2313432"/>
            <a:ext cx="1280160" cy="0"/>
          </a:xfrm>
          <a:prstGeom prst="line">
            <a:avLst/>
          </a:prstGeom>
          <a:ln w="10160">
            <a:solidFill>
              <a:srgbClr val="D73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8952" y="2414016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D73941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2414016"/>
            <a:ext cx="107899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指示剂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2724912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D73941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2724912"/>
            <a:ext cx="107899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活泼金属①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035808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D73941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3035808"/>
            <a:ext cx="107899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碱性氧化物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3346704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D73941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" y="3346704"/>
            <a:ext cx="107899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碱、部分盐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40280" y="1901952"/>
            <a:ext cx="1481328" cy="2148840"/>
          </a:xfrm>
          <a:prstGeom prst="roundRect">
            <a:avLst/>
          </a:prstGeom>
          <a:solidFill>
            <a:srgbClr val="EBF8FD"/>
          </a:solidFill>
          <a:ln w="11430">
            <a:solidFill>
              <a:srgbClr val="197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13432" y="1993392"/>
            <a:ext cx="13350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97EAE"/>
                </a:solidFill>
                <a:latin typeface="Microsoft YaHei"/>
              </a:defRPr>
            </a:pPr>
            <a:r>
              <a:t>碱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340864" y="2313432"/>
            <a:ext cx="1280160" cy="0"/>
          </a:xfrm>
          <a:prstGeom prst="line">
            <a:avLst/>
          </a:prstGeom>
          <a:ln w="10160">
            <a:solidFill>
              <a:srgbClr val="197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359152" y="2414016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197EAE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3744" y="2414016"/>
            <a:ext cx="107899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指示剂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59152" y="2724912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197EAE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23744" y="2724912"/>
            <a:ext cx="107899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酸性氧化物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59152" y="3035808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197EAE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3744" y="3035808"/>
            <a:ext cx="107899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59152" y="3346704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197EAE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23744" y="3346704"/>
            <a:ext cx="107899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部分盐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40480" y="1901952"/>
            <a:ext cx="1481328" cy="2148840"/>
          </a:xfrm>
          <a:prstGeom prst="roundRect">
            <a:avLst/>
          </a:prstGeom>
          <a:solidFill>
            <a:srgbClr val="F6F4FF"/>
          </a:solidFill>
          <a:ln w="11430">
            <a:solidFill>
              <a:srgbClr val="66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13632" y="1993392"/>
            <a:ext cx="13350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65CD6"/>
                </a:solidFill>
                <a:latin typeface="Microsoft YaHei"/>
              </a:defRPr>
            </a:pPr>
            <a:r>
              <a:t>盐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941064" y="2313432"/>
            <a:ext cx="1280160" cy="0"/>
          </a:xfrm>
          <a:prstGeom prst="line">
            <a:avLst/>
          </a:prstGeom>
          <a:ln w="10160">
            <a:solidFill>
              <a:srgbClr val="665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959352" y="2414016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665CD6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23944" y="2414016"/>
            <a:ext cx="107899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金属②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9352" y="2724912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665CD6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23944" y="2724912"/>
            <a:ext cx="107899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59352" y="3035808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665CD6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23944" y="3035808"/>
            <a:ext cx="107899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59352" y="3346704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665CD6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23944" y="3346704"/>
            <a:ext cx="107899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另一种盐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40680" y="1901952"/>
            <a:ext cx="1453896" cy="2148840"/>
          </a:xfrm>
          <a:prstGeom prst="roundRect">
            <a:avLst/>
          </a:prstGeom>
          <a:solidFill>
            <a:srgbClr val="F5FCFE"/>
          </a:solidFill>
          <a:ln w="11430">
            <a:solidFill>
              <a:srgbClr val="178B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13832" y="1993392"/>
            <a:ext cx="1307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8B8F"/>
                </a:solidFill>
                <a:latin typeface="Microsoft YaHei"/>
              </a:defRPr>
            </a:pPr>
            <a:r>
              <a:t>氧化物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541264" y="2313432"/>
            <a:ext cx="1252728" cy="0"/>
          </a:xfrm>
          <a:prstGeom prst="line">
            <a:avLst/>
          </a:prstGeom>
          <a:ln w="10160">
            <a:solidFill>
              <a:srgbClr val="178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559552" y="2414016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178B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24144" y="2414016"/>
            <a:ext cx="105156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酸性 ↔ 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9552" y="2724912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178B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24144" y="2724912"/>
            <a:ext cx="105156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碱性 ↔ 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9552" y="3035808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178B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24144" y="3035808"/>
            <a:ext cx="105156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两类氧化物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9552" y="3346704"/>
            <a:ext cx="155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40" b="1">
                <a:solidFill>
                  <a:srgbClr val="178B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24144" y="3346704"/>
            <a:ext cx="105156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部分可与水反应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8" y="4096512"/>
            <a:ext cx="6062472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526873"/>
                </a:solidFill>
                <a:latin typeface="Microsoft YaHei"/>
              </a:defRPr>
            </a:pPr>
            <a:r>
              <a:t>①通常指非氧化性酸；②置换需满足金属活动性。复分解反应通常要生成沉淀、气体或弱电解质。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9768" y="4507992"/>
            <a:ext cx="6684264" cy="2679192"/>
          </a:xfrm>
          <a:prstGeom prst="roundRect">
            <a:avLst/>
          </a:prstGeom>
          <a:solidFill>
            <a:srgbClr val="F5FCFE"/>
          </a:solidFill>
          <a:ln w="12700">
            <a:solidFill>
              <a:srgbClr val="BA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12648" y="4690872"/>
            <a:ext cx="384048" cy="310896"/>
          </a:xfrm>
          <a:prstGeom prst="roundRect">
            <a:avLst/>
          </a:prstGeom>
          <a:solidFill>
            <a:srgbClr val="197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686300"/>
            <a:ext cx="38404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四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" y="4681728"/>
            <a:ext cx="58521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74E"/>
                </a:solidFill>
                <a:latin typeface="Microsoft YaHei"/>
              </a:defRPr>
            </a:pPr>
            <a:r>
              <a:t>四种基本反应类型：看反应物与生成物的形式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69848" y="5020056"/>
            <a:ext cx="5852160" cy="0"/>
          </a:xfrm>
          <a:prstGeom prst="line">
            <a:avLst/>
          </a:prstGeom>
          <a:ln w="20320">
            <a:solidFill>
              <a:srgbClr val="197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658368" y="5157216"/>
            <a:ext cx="3026664" cy="978408"/>
          </a:xfrm>
          <a:prstGeom prst="roundRect">
            <a:avLst/>
          </a:prstGeom>
          <a:solidFill>
            <a:srgbClr val="EBF8FD"/>
          </a:solidFill>
          <a:ln w="10160">
            <a:solidFill>
              <a:srgbClr val="197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19" y="5230368"/>
            <a:ext cx="5303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80" b="1">
                <a:solidFill>
                  <a:srgbClr val="197EAE"/>
                </a:solidFill>
                <a:latin typeface="Microsoft YaHei"/>
              </a:defRPr>
            </a:pPr>
            <a:r>
              <a:t>化合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61872" y="5230368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30" b="1">
                <a:solidFill>
                  <a:srgbClr val="12374E"/>
                </a:solidFill>
                <a:latin typeface="Microsoft YaHei"/>
              </a:defRPr>
            </a:pPr>
            <a:r>
              <a:t>A + B → AB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" y="5550407"/>
            <a:ext cx="2843784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2Ca + O₂  ──点燃──→  2CaO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13048" y="5157216"/>
            <a:ext cx="3072384" cy="978408"/>
          </a:xfrm>
          <a:prstGeom prst="roundRect">
            <a:avLst/>
          </a:prstGeom>
          <a:solidFill>
            <a:srgbClr val="FFF4F5"/>
          </a:solidFill>
          <a:ln w="10160">
            <a:solidFill>
              <a:srgbClr val="D739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86200" y="5230368"/>
            <a:ext cx="5303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80" b="1">
                <a:solidFill>
                  <a:srgbClr val="D73941"/>
                </a:solidFill>
                <a:latin typeface="Microsoft YaHei"/>
              </a:defRPr>
            </a:pPr>
            <a:r>
              <a:t>分解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16552" y="5230368"/>
            <a:ext cx="23957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30" b="1">
                <a:solidFill>
                  <a:srgbClr val="12374E"/>
                </a:solidFill>
                <a:latin typeface="Microsoft YaHei"/>
              </a:defRPr>
            </a:pPr>
            <a:r>
              <a:t>AB → A + 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04487" y="5550407"/>
            <a:ext cx="2889503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CaCO₃  ──高温──→  CaO + CO₂↑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58368" y="6245352"/>
            <a:ext cx="3026664" cy="978408"/>
          </a:xfrm>
          <a:prstGeom prst="roundRect">
            <a:avLst/>
          </a:prstGeom>
          <a:solidFill>
            <a:srgbClr val="F6F4FF"/>
          </a:solidFill>
          <a:ln w="10160">
            <a:solidFill>
              <a:srgbClr val="66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1519" y="6318504"/>
            <a:ext cx="5303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80" b="1">
                <a:solidFill>
                  <a:srgbClr val="665CD6"/>
                </a:solidFill>
                <a:latin typeface="Microsoft YaHei"/>
              </a:defRPr>
            </a:pPr>
            <a:r>
              <a:t>置换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61872" y="6318504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30" b="1">
                <a:solidFill>
                  <a:srgbClr val="12374E"/>
                </a:solidFill>
                <a:latin typeface="Microsoft YaHei"/>
              </a:defRPr>
            </a:pPr>
            <a:r>
              <a:t>A + BC → AC + 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9808" y="6638544"/>
            <a:ext cx="2843784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Fe + CuSO₄ = FeSO₄ + Cu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813048" y="6245352"/>
            <a:ext cx="3072384" cy="978408"/>
          </a:xfrm>
          <a:prstGeom prst="roundRect">
            <a:avLst/>
          </a:prstGeom>
          <a:solidFill>
            <a:srgbClr val="F5FCFE"/>
          </a:solidFill>
          <a:ln w="10160">
            <a:solidFill>
              <a:srgbClr val="178B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86200" y="6318504"/>
            <a:ext cx="5303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80" b="1">
                <a:solidFill>
                  <a:srgbClr val="178B8F"/>
                </a:solidFill>
                <a:latin typeface="Microsoft YaHei"/>
              </a:defRPr>
            </a:pPr>
            <a:r>
              <a:t>复分解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16552" y="6318504"/>
            <a:ext cx="23957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30" b="1">
                <a:solidFill>
                  <a:srgbClr val="12374E"/>
                </a:solidFill>
                <a:latin typeface="Microsoft YaHei"/>
              </a:defRPr>
            </a:pPr>
            <a:r>
              <a:t>AB + CD → AD + CB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04487" y="6638544"/>
            <a:ext cx="2889503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1F2A31"/>
                </a:solidFill>
                <a:latin typeface="Microsoft YaHei"/>
              </a:defRPr>
            </a:pPr>
            <a:r>
              <a:t>HCl + NaOH = NaCl + H₂O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29768" y="7360920"/>
            <a:ext cx="6684264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12648" y="7543800"/>
            <a:ext cx="384048" cy="310896"/>
          </a:xfrm>
          <a:prstGeom prst="roundRect">
            <a:avLst/>
          </a:prstGeom>
          <a:solidFill>
            <a:srgbClr val="197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2648" y="7539227"/>
            <a:ext cx="38404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9848" y="7534656"/>
            <a:ext cx="58521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74E"/>
                </a:solidFill>
                <a:latin typeface="Microsoft YaHei"/>
              </a:defRPr>
            </a:pPr>
            <a:r>
              <a:t>物质转化：选物质 → 判反应 → 补条件 → 配平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69848" y="7872983"/>
            <a:ext cx="5852160" cy="0"/>
          </a:xfrm>
          <a:prstGeom prst="line">
            <a:avLst/>
          </a:prstGeom>
          <a:ln w="20320">
            <a:solidFill>
              <a:srgbClr val="197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804672" y="8147304"/>
            <a:ext cx="786384" cy="402336"/>
          </a:xfrm>
          <a:prstGeom prst="roundRect">
            <a:avLst/>
          </a:prstGeom>
          <a:solidFill>
            <a:srgbClr val="FFF9E4"/>
          </a:solidFill>
          <a:ln w="10160">
            <a:solidFill>
              <a:srgbClr val="DA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4672" y="8147304"/>
            <a:ext cx="786384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E8B31"/>
                </a:solidFill>
                <a:latin typeface="Microsoft YaHei"/>
              </a:defRPr>
            </a:pPr>
            <a:r>
              <a:t>Ca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1691640" y="8247888"/>
            <a:ext cx="320040" cy="182880"/>
          </a:xfrm>
          <a:prstGeom prst="rightArrow">
            <a:avLst/>
          </a:prstGeom>
          <a:solidFill>
            <a:srgbClr val="197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267712" y="8147304"/>
            <a:ext cx="932688" cy="402336"/>
          </a:xfrm>
          <a:prstGeom prst="roundRect">
            <a:avLst/>
          </a:prstGeom>
          <a:solidFill>
            <a:srgbClr val="EBF8FD"/>
          </a:solidFill>
          <a:ln w="10160">
            <a:solidFill>
              <a:srgbClr val="DA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267712" y="8147304"/>
            <a:ext cx="932688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97EAE"/>
                </a:solidFill>
                <a:latin typeface="Microsoft YaHei"/>
              </a:defRPr>
            </a:pPr>
            <a:r>
              <a:t>CaO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3300984" y="8247888"/>
            <a:ext cx="320040" cy="182880"/>
          </a:xfrm>
          <a:prstGeom prst="rightArrow">
            <a:avLst/>
          </a:prstGeom>
          <a:solidFill>
            <a:srgbClr val="197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3785615" y="8147304"/>
            <a:ext cx="1115568" cy="402336"/>
          </a:xfrm>
          <a:prstGeom prst="roundRect">
            <a:avLst/>
          </a:prstGeom>
          <a:solidFill>
            <a:srgbClr val="F5FCFE"/>
          </a:solidFill>
          <a:ln w="10160">
            <a:solidFill>
              <a:srgbClr val="DA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785615" y="8147304"/>
            <a:ext cx="1115568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8B8F"/>
                </a:solidFill>
                <a:latin typeface="Microsoft YaHei"/>
              </a:defRPr>
            </a:pPr>
            <a:r>
              <a:t>Ca(OH)₂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5001768" y="8247888"/>
            <a:ext cx="320040" cy="182880"/>
          </a:xfrm>
          <a:prstGeom prst="rightArrow">
            <a:avLst/>
          </a:prstGeom>
          <a:solidFill>
            <a:srgbClr val="197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5413248" y="8147304"/>
            <a:ext cx="1042415" cy="402336"/>
          </a:xfrm>
          <a:prstGeom prst="roundRect">
            <a:avLst/>
          </a:prstGeom>
          <a:solidFill>
            <a:srgbClr val="F6F4FF"/>
          </a:solidFill>
          <a:ln w="10160">
            <a:solidFill>
              <a:srgbClr val="DA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413248" y="8147304"/>
            <a:ext cx="1042415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65CD6"/>
                </a:solidFill>
                <a:latin typeface="Microsoft YaHei"/>
              </a:defRPr>
            </a:pPr>
            <a:r>
              <a:t>CaCO₃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91056" y="7982712"/>
            <a:ext cx="512064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D73941"/>
                </a:solidFill>
                <a:latin typeface="Microsoft YaHei"/>
              </a:defRPr>
            </a:pPr>
            <a:r>
              <a:t>O₂ / 点燃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072384" y="7982712"/>
            <a:ext cx="49377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D73941"/>
                </a:solidFill>
                <a:latin typeface="Microsoft YaHei"/>
              </a:defRPr>
            </a:pPr>
            <a:r>
              <a:t>H₂O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73168" y="7982712"/>
            <a:ext cx="49377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D73941"/>
                </a:solidFill>
                <a:latin typeface="Microsoft YaHei"/>
              </a:defRPr>
            </a:pPr>
            <a:r>
              <a:t>CO₂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3232" y="8695944"/>
            <a:ext cx="6254496" cy="24688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890" b="1">
                <a:solidFill>
                  <a:srgbClr val="197EAE"/>
                </a:solidFill>
                <a:latin typeface="Microsoft YaHei"/>
              </a:rPr>
              <a:t>① </a:t>
            </a:r>
            <a:r>
              <a:rPr sz="890" b="1">
                <a:solidFill>
                  <a:srgbClr val="1F2A31"/>
                </a:solidFill>
                <a:latin typeface="Microsoft YaHei"/>
              </a:rPr>
              <a:t>2Ca + O₂ ──点燃──→ 2CaO</a:t>
            </a:r>
            <a:r>
              <a:rPr sz="890" b="1">
                <a:solidFill>
                  <a:srgbClr val="197EAE"/>
                </a:solidFill>
                <a:latin typeface="Microsoft YaHei"/>
              </a:rPr>
              <a:t>    ② </a:t>
            </a:r>
            <a:r>
              <a:rPr sz="890" b="1">
                <a:solidFill>
                  <a:srgbClr val="1F2A31"/>
                </a:solidFill>
                <a:latin typeface="Microsoft YaHei"/>
              </a:rPr>
              <a:t>CaO + H₂O = Ca(OH)₂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9808" y="8979408"/>
            <a:ext cx="6181344" cy="24688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910" b="1">
                <a:solidFill>
                  <a:srgbClr val="197EAE"/>
                </a:solidFill>
                <a:latin typeface="Microsoft YaHei"/>
              </a:rPr>
              <a:t>③ </a:t>
            </a:r>
            <a:r>
              <a:rPr sz="910" b="1">
                <a:solidFill>
                  <a:srgbClr val="1F2A31"/>
                </a:solidFill>
                <a:latin typeface="Microsoft YaHei"/>
              </a:rPr>
              <a:t>Ca(OH)₂ + CO₂ = CaCO₃↓ + H₂O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04088" y="9308592"/>
            <a:ext cx="6254496" cy="457200"/>
          </a:xfrm>
          <a:prstGeom prst="roundRect">
            <a:avLst/>
          </a:prstGeom>
          <a:solidFill>
            <a:srgbClr val="FFF9E4"/>
          </a:solidFill>
          <a:ln w="10160">
            <a:solidFill>
              <a:srgbClr val="EFD0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32104" y="9400032"/>
            <a:ext cx="5998464" cy="22860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D73941"/>
                </a:solidFill>
                <a:latin typeface="Microsoft YaHei"/>
              </a:rPr>
              <a:t>规范表达：</a:t>
            </a:r>
            <a:r>
              <a:rPr sz="850" b="0">
                <a:solidFill>
                  <a:srgbClr val="1F2A31"/>
                </a:solidFill>
                <a:latin typeface="Microsoft YaHei"/>
              </a:rPr>
              <a:t>化学式正确 → 元素守恒 → 条件、↑、↓齐全；有价态变化时再检查电子得失。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